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98175A-221A-4513-AE29-7C46E352DCAA}" type="datetimeFigureOut">
              <a:rPr lang="en-CA" smtClean="0"/>
              <a:t>2026-03-22</a:t>
            </a:fld>
            <a:endParaRPr lang="en-CA"/>
          </a:p>
        </p:txBody>
      </p:sp>
      <p:sp>
        <p:nvSpPr>
          <p:cNvPr id="5" name="Footer Placeholder 4"/>
          <p:cNvSpPr>
            <a:spLocks noGrp="1"/>
          </p:cNvSpPr>
          <p:nvPr>
            <p:ph type="ftr" sz="quarter" idx="11"/>
          </p:nvPr>
        </p:nvSpPr>
        <p:spPr>
          <a:xfrm>
            <a:off x="2416500" y="329307"/>
            <a:ext cx="4973915" cy="309201"/>
          </a:xfrm>
        </p:spPr>
        <p:txBody>
          <a:bodyPr/>
          <a:lstStyle/>
          <a:p>
            <a:endParaRPr lang="en-CA"/>
          </a:p>
        </p:txBody>
      </p:sp>
      <p:sp>
        <p:nvSpPr>
          <p:cNvPr id="6" name="Slide Number Placeholder 5"/>
          <p:cNvSpPr>
            <a:spLocks noGrp="1"/>
          </p:cNvSpPr>
          <p:nvPr>
            <p:ph type="sldNum" sz="quarter" idx="12"/>
          </p:nvPr>
        </p:nvSpPr>
        <p:spPr>
          <a:xfrm>
            <a:off x="1437664" y="798973"/>
            <a:ext cx="811019" cy="503578"/>
          </a:xfrm>
        </p:spPr>
        <p:txBody>
          <a:bodyPr/>
          <a:lstStyle/>
          <a:p>
            <a:fld id="{56C4BE3B-7396-4A88-9F08-40A7EB7C8BC6}" type="slidenum">
              <a:rPr lang="en-CA" smtClean="0"/>
              <a:t>‹#›</a:t>
            </a:fld>
            <a:endParaRPr lang="en-CA"/>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99172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98175A-221A-4513-AE29-7C46E352DCAA}" type="datetimeFigureOut">
              <a:rPr lang="en-CA" smtClean="0"/>
              <a:t>2026-03-22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C4BE3B-7396-4A88-9F08-40A7EB7C8BC6}" type="slidenum">
              <a:rPr lang="en-CA" smtClean="0"/>
              <a:t>‹#›</a:t>
            </a:fld>
            <a:endParaRPr lang="en-CA"/>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20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98175A-221A-4513-AE29-7C46E352DCAA}" type="datetimeFigureOut">
              <a:rPr lang="en-CA" smtClean="0"/>
              <a:t>2026-03-22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C4BE3B-7396-4A88-9F08-40A7EB7C8BC6}" type="slidenum">
              <a:rPr lang="en-CA" smtClean="0"/>
              <a:t>‹#›</a:t>
            </a:fld>
            <a:endParaRPr lang="en-CA"/>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0203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98175A-221A-4513-AE29-7C46E352DCAA}" type="datetimeFigureOut">
              <a:rPr lang="en-CA" smtClean="0"/>
              <a:t>2026-03-22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6C4BE3B-7396-4A88-9F08-40A7EB7C8BC6}" type="slidenum">
              <a:rPr lang="en-CA" smtClean="0"/>
              <a:t>‹#›</a:t>
            </a:fld>
            <a:endParaRPr lang="en-CA"/>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06660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98175A-221A-4513-AE29-7C46E352DCAA}" type="datetimeFigureOut">
              <a:rPr lang="en-CA" smtClean="0"/>
              <a:t>2026-03-22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56C4BE3B-7396-4A88-9F08-40A7EB7C8BC6}" type="slidenum">
              <a:rPr lang="en-CA" smtClean="0"/>
              <a:t>‹#›</a:t>
            </a:fld>
            <a:endParaRPr lang="en-CA"/>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07124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98175A-221A-4513-AE29-7C46E352DCAA}" type="datetimeFigureOut">
              <a:rPr lang="en-CA" smtClean="0"/>
              <a:t>2026-03-22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56C4BE3B-7396-4A88-9F08-40A7EB7C8BC6}" type="slidenum">
              <a:rPr lang="en-CA" smtClean="0"/>
              <a:t>‹#›</a:t>
            </a:fld>
            <a:endParaRPr lang="en-CA"/>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06357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98175A-221A-4513-AE29-7C46E352DCAA}" type="datetimeFigureOut">
              <a:rPr lang="en-CA" smtClean="0"/>
              <a:t>2026-03-22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56C4BE3B-7396-4A88-9F08-40A7EB7C8BC6}" type="slidenum">
              <a:rPr lang="en-CA" smtClean="0"/>
              <a:t>‹#›</a:t>
            </a:fld>
            <a:endParaRPr lang="en-CA"/>
          </a:p>
        </p:txBody>
      </p:sp>
    </p:spTree>
    <p:extLst>
      <p:ext uri="{BB962C8B-B14F-4D97-AF65-F5344CB8AC3E}">
        <p14:creationId xmlns:p14="http://schemas.microsoft.com/office/powerpoint/2010/main" val="3729138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98175A-221A-4513-AE29-7C46E352DCAA}" type="datetimeFigureOut">
              <a:rPr lang="en-CA" smtClean="0"/>
              <a:t>2026-03-22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56C4BE3B-7396-4A88-9F08-40A7EB7C8BC6}" type="slidenum">
              <a:rPr lang="en-CA" smtClean="0"/>
              <a:t>‹#›</a:t>
            </a:fld>
            <a:endParaRPr lang="en-CA"/>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731172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598175A-221A-4513-AE29-7C46E352DCAA}" type="datetimeFigureOut">
              <a:rPr lang="en-CA" smtClean="0"/>
              <a:t>2026-03-22</a:t>
            </a:fld>
            <a:endParaRPr lang="en-CA"/>
          </a:p>
        </p:txBody>
      </p:sp>
      <p:sp>
        <p:nvSpPr>
          <p:cNvPr id="6" name="Footer Placeholder 5"/>
          <p:cNvSpPr>
            <a:spLocks noGrp="1"/>
          </p:cNvSpPr>
          <p:nvPr>
            <p:ph type="ftr" sz="quarter" idx="11"/>
          </p:nvPr>
        </p:nvSpPr>
        <p:spPr>
          <a:xfrm>
            <a:off x="1447382" y="318640"/>
            <a:ext cx="5541004" cy="320931"/>
          </a:xfrm>
        </p:spPr>
        <p:txBody>
          <a:bodyPr/>
          <a:lstStyle/>
          <a:p>
            <a:endParaRPr lang="en-CA"/>
          </a:p>
        </p:txBody>
      </p:sp>
      <p:sp>
        <p:nvSpPr>
          <p:cNvPr id="7" name="Slide Number Placeholder 6"/>
          <p:cNvSpPr>
            <a:spLocks noGrp="1"/>
          </p:cNvSpPr>
          <p:nvPr>
            <p:ph type="sldNum" sz="quarter" idx="12"/>
          </p:nvPr>
        </p:nvSpPr>
        <p:spPr/>
        <p:txBody>
          <a:bodyPr/>
          <a:lstStyle/>
          <a:p>
            <a:fld id="{56C4BE3B-7396-4A88-9F08-40A7EB7C8BC6}" type="slidenum">
              <a:rPr lang="en-CA" smtClean="0"/>
              <a:t>‹#›</a:t>
            </a:fld>
            <a:endParaRPr lang="en-CA"/>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13275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98175A-221A-4513-AE29-7C46E352DCAA}" type="datetimeFigureOut">
              <a:rPr lang="en-CA" smtClean="0"/>
              <a:t>2026-03-22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C4BE3B-7396-4A88-9F08-40A7EB7C8BC6}" type="slidenum">
              <a:rPr lang="en-CA" smtClean="0"/>
              <a:t>‹#›</a:t>
            </a:fld>
            <a:endParaRPr lang="en-CA"/>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7141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98175A-221A-4513-AE29-7C46E352DCAA}" type="datetimeFigureOut">
              <a:rPr lang="en-CA" smtClean="0"/>
              <a:t>2026-03-22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56C4BE3B-7396-4A88-9F08-40A7EB7C8BC6}" type="slidenum">
              <a:rPr lang="en-CA" smtClean="0"/>
              <a:t>‹#›</a:t>
            </a:fld>
            <a:endParaRPr lang="en-CA"/>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26713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598175A-221A-4513-AE29-7C46E352DCAA}" type="datetimeFigureOut">
              <a:rPr lang="en-CA" smtClean="0"/>
              <a:t>2026-03-22</a:t>
            </a:fld>
            <a:endParaRPr lang="en-CA"/>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6C4BE3B-7396-4A88-9F08-40A7EB7C8BC6}" type="slidenum">
              <a:rPr lang="en-CA" smtClean="0"/>
              <a:t>‹#›</a:t>
            </a:fld>
            <a:endParaRPr lang="en-CA"/>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1248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F01A1-EF6B-7F75-A3A5-BB557AB4D322}"/>
              </a:ext>
            </a:extLst>
          </p:cNvPr>
          <p:cNvSpPr>
            <a:spLocks noGrp="1"/>
          </p:cNvSpPr>
          <p:nvPr>
            <p:ph type="ctrTitle"/>
          </p:nvPr>
        </p:nvSpPr>
        <p:spPr/>
        <p:txBody>
          <a:bodyPr>
            <a:normAutofit/>
          </a:bodyPr>
          <a:lstStyle/>
          <a:p>
            <a:r>
              <a:rPr lang="en-CA" sz="3200" b="1"/>
              <a:t>Performance Analytics and Predictive Modeling in a Soccer Simulation Environment</a:t>
            </a:r>
            <a:br>
              <a:rPr lang="en-CA" sz="3200"/>
            </a:br>
            <a:endParaRPr lang="en-CA" sz="3200"/>
          </a:p>
        </p:txBody>
      </p:sp>
      <p:sp>
        <p:nvSpPr>
          <p:cNvPr id="3" name="Subtitle 2">
            <a:extLst>
              <a:ext uri="{FF2B5EF4-FFF2-40B4-BE49-F238E27FC236}">
                <a16:creationId xmlns:a16="http://schemas.microsoft.com/office/drawing/2014/main" id="{2D2B3AEE-CFF5-D4B5-AED4-4747232786F1}"/>
              </a:ext>
            </a:extLst>
          </p:cNvPr>
          <p:cNvSpPr>
            <a:spLocks noGrp="1"/>
          </p:cNvSpPr>
          <p:nvPr>
            <p:ph type="subTitle" idx="1"/>
          </p:nvPr>
        </p:nvSpPr>
        <p:spPr/>
        <p:txBody>
          <a:bodyPr>
            <a:normAutofit/>
          </a:bodyPr>
          <a:lstStyle/>
          <a:p>
            <a:r>
              <a:rPr lang="en-CA" sz="3200" b="1"/>
              <a:t>Mohamad AL SAbbagh</a:t>
            </a:r>
          </a:p>
        </p:txBody>
      </p:sp>
    </p:spTree>
    <p:extLst>
      <p:ext uri="{BB962C8B-B14F-4D97-AF65-F5344CB8AC3E}">
        <p14:creationId xmlns:p14="http://schemas.microsoft.com/office/powerpoint/2010/main" val="289669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943FD-0218-7905-044F-FE7836EE1DE1}"/>
              </a:ext>
            </a:extLst>
          </p:cNvPr>
          <p:cNvSpPr>
            <a:spLocks noGrp="1"/>
          </p:cNvSpPr>
          <p:nvPr>
            <p:ph type="title"/>
          </p:nvPr>
        </p:nvSpPr>
        <p:spPr/>
        <p:txBody>
          <a:bodyPr/>
          <a:lstStyle/>
          <a:p>
            <a:r>
              <a:rPr lang="en-CA"/>
              <a:t>1. Introduction</a:t>
            </a:r>
          </a:p>
        </p:txBody>
      </p:sp>
      <p:sp>
        <p:nvSpPr>
          <p:cNvPr id="3" name="Content Placeholder 2">
            <a:extLst>
              <a:ext uri="{FF2B5EF4-FFF2-40B4-BE49-F238E27FC236}">
                <a16:creationId xmlns:a16="http://schemas.microsoft.com/office/drawing/2014/main" id="{2FEFC625-F6D9-362D-54E6-EF3D63458D45}"/>
              </a:ext>
            </a:extLst>
          </p:cNvPr>
          <p:cNvSpPr>
            <a:spLocks noGrp="1"/>
          </p:cNvSpPr>
          <p:nvPr>
            <p:ph idx="1"/>
          </p:nvPr>
        </p:nvSpPr>
        <p:spPr/>
        <p:txBody>
          <a:bodyPr/>
          <a:lstStyle/>
          <a:p>
            <a:pPr marL="0" indent="0">
              <a:buNone/>
            </a:pPr>
            <a:r>
              <a:rPr lang="en-CA" b="1"/>
              <a:t>1.1 Project overview</a:t>
            </a:r>
          </a:p>
          <a:p>
            <a:pPr marL="0" indent="0">
              <a:buNone/>
            </a:pPr>
            <a:r>
              <a:rPr lang="en-US"/>
              <a:t>This project involves building a soccer simulation that generates gameplay data such as shots, goals, and difficulty levels. The data is then analyzed using tools like Python, SQL, and Power BI to extract insights and build a predictive model for goal scoring.</a:t>
            </a:r>
            <a:endParaRPr lang="en-CA"/>
          </a:p>
        </p:txBody>
      </p:sp>
    </p:spTree>
    <p:extLst>
      <p:ext uri="{BB962C8B-B14F-4D97-AF65-F5344CB8AC3E}">
        <p14:creationId xmlns:p14="http://schemas.microsoft.com/office/powerpoint/2010/main" val="4247176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49E98-E202-B575-992F-2FD764AC4080}"/>
              </a:ext>
            </a:extLst>
          </p:cNvPr>
          <p:cNvSpPr>
            <a:spLocks noGrp="1"/>
          </p:cNvSpPr>
          <p:nvPr>
            <p:ph type="title"/>
          </p:nvPr>
        </p:nvSpPr>
        <p:spPr/>
        <p:txBody>
          <a:bodyPr/>
          <a:lstStyle/>
          <a:p>
            <a:r>
              <a:rPr lang="en-CA"/>
              <a:t>1. Introduction</a:t>
            </a:r>
          </a:p>
        </p:txBody>
      </p:sp>
      <p:sp>
        <p:nvSpPr>
          <p:cNvPr id="3" name="Content Placeholder 2">
            <a:extLst>
              <a:ext uri="{FF2B5EF4-FFF2-40B4-BE49-F238E27FC236}">
                <a16:creationId xmlns:a16="http://schemas.microsoft.com/office/drawing/2014/main" id="{4DC77B60-C436-B274-39EF-6BF71A2EB748}"/>
              </a:ext>
            </a:extLst>
          </p:cNvPr>
          <p:cNvSpPr>
            <a:spLocks noGrp="1"/>
          </p:cNvSpPr>
          <p:nvPr>
            <p:ph idx="1"/>
          </p:nvPr>
        </p:nvSpPr>
        <p:spPr/>
        <p:txBody>
          <a:bodyPr/>
          <a:lstStyle/>
          <a:p>
            <a:pPr marL="0" indent="0">
              <a:buNone/>
            </a:pPr>
            <a:r>
              <a:rPr lang="en-CA" b="1"/>
              <a:t>1.2 Problem statement </a:t>
            </a:r>
          </a:p>
          <a:p>
            <a:pPr marL="0" indent="0">
              <a:buNone/>
            </a:pPr>
            <a:r>
              <a:rPr lang="en-US"/>
              <a:t>Soccer simulations generate a lot of data, but this data is not analyzed effectively to evaluate performance or make predictions. This means important factors like difficulty levels, shot power, and gameplay performance are often not fully explored</a:t>
            </a:r>
            <a:endParaRPr lang="en-CA"/>
          </a:p>
        </p:txBody>
      </p:sp>
    </p:spTree>
    <p:extLst>
      <p:ext uri="{BB962C8B-B14F-4D97-AF65-F5344CB8AC3E}">
        <p14:creationId xmlns:p14="http://schemas.microsoft.com/office/powerpoint/2010/main" val="3686437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57FB8-EEC4-6FDB-FD19-02D8E964A119}"/>
              </a:ext>
            </a:extLst>
          </p:cNvPr>
          <p:cNvSpPr>
            <a:spLocks noGrp="1"/>
          </p:cNvSpPr>
          <p:nvPr>
            <p:ph type="title"/>
          </p:nvPr>
        </p:nvSpPr>
        <p:spPr/>
        <p:txBody>
          <a:bodyPr/>
          <a:lstStyle/>
          <a:p>
            <a:r>
              <a:rPr lang="en-CA"/>
              <a:t>1. Introduction</a:t>
            </a:r>
          </a:p>
        </p:txBody>
      </p:sp>
      <p:sp>
        <p:nvSpPr>
          <p:cNvPr id="3" name="Content Placeholder 2">
            <a:extLst>
              <a:ext uri="{FF2B5EF4-FFF2-40B4-BE49-F238E27FC236}">
                <a16:creationId xmlns:a16="http://schemas.microsoft.com/office/drawing/2014/main" id="{88B1E99F-8781-1FEA-6A77-B8F127F3FA28}"/>
              </a:ext>
            </a:extLst>
          </p:cNvPr>
          <p:cNvSpPr>
            <a:spLocks noGrp="1"/>
          </p:cNvSpPr>
          <p:nvPr>
            <p:ph idx="1"/>
          </p:nvPr>
        </p:nvSpPr>
        <p:spPr/>
        <p:txBody>
          <a:bodyPr/>
          <a:lstStyle/>
          <a:p>
            <a:pPr marL="0" indent="0">
              <a:buNone/>
            </a:pPr>
            <a:r>
              <a:rPr lang="en-CA" b="1"/>
              <a:t>1.3 Objective</a:t>
            </a:r>
          </a:p>
          <a:p>
            <a:pPr marL="0" indent="0">
              <a:buNone/>
            </a:pPr>
            <a:r>
              <a:rPr lang="en-US"/>
              <a:t>The objectives of this project are to analyze gameplay performance, identify key factors that affect goal scoring such as difficulty and shot power, and use a regression model to predict the number of goals. The project also includes visualizing insights using tools like Python, SQL, and Power BI.</a:t>
            </a:r>
            <a:endParaRPr lang="en-CA" b="1"/>
          </a:p>
          <a:p>
            <a:pPr marL="0" indent="0">
              <a:buNone/>
            </a:pPr>
            <a:endParaRPr lang="en-CA"/>
          </a:p>
        </p:txBody>
      </p:sp>
    </p:spTree>
    <p:extLst>
      <p:ext uri="{BB962C8B-B14F-4D97-AF65-F5344CB8AC3E}">
        <p14:creationId xmlns:p14="http://schemas.microsoft.com/office/powerpoint/2010/main" val="4196655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EA682-794F-FF5E-35FD-0599629724E1}"/>
              </a:ext>
            </a:extLst>
          </p:cNvPr>
          <p:cNvSpPr>
            <a:spLocks noGrp="1"/>
          </p:cNvSpPr>
          <p:nvPr>
            <p:ph type="title"/>
          </p:nvPr>
        </p:nvSpPr>
        <p:spPr/>
        <p:txBody>
          <a:bodyPr/>
          <a:lstStyle/>
          <a:p>
            <a:r>
              <a:rPr lang="en-CA"/>
              <a:t>2. Methodology</a:t>
            </a:r>
          </a:p>
        </p:txBody>
      </p:sp>
      <p:sp>
        <p:nvSpPr>
          <p:cNvPr id="3" name="Content Placeholder 2">
            <a:extLst>
              <a:ext uri="{FF2B5EF4-FFF2-40B4-BE49-F238E27FC236}">
                <a16:creationId xmlns:a16="http://schemas.microsoft.com/office/drawing/2014/main" id="{500D52D8-790A-1F84-30A4-DDBA4CF61C59}"/>
              </a:ext>
            </a:extLst>
          </p:cNvPr>
          <p:cNvSpPr>
            <a:spLocks noGrp="1"/>
          </p:cNvSpPr>
          <p:nvPr>
            <p:ph idx="1"/>
          </p:nvPr>
        </p:nvSpPr>
        <p:spPr/>
        <p:txBody>
          <a:bodyPr/>
          <a:lstStyle/>
          <a:p>
            <a:pPr marL="0" indent="0">
              <a:buNone/>
            </a:pPr>
            <a:r>
              <a:rPr lang="en-CA" b="1"/>
              <a:t>2.1 Approach</a:t>
            </a:r>
          </a:p>
          <a:p>
            <a:r>
              <a:rPr lang="en-US"/>
              <a:t>Data generated from a soccer simulation</a:t>
            </a:r>
          </a:p>
          <a:p>
            <a:r>
              <a:rPr lang="en-US"/>
              <a:t>Each match consists of exactly 10 shots</a:t>
            </a:r>
          </a:p>
          <a:p>
            <a:r>
              <a:rPr lang="en-US"/>
              <a:t>Match data stored in CSV and SQL database</a:t>
            </a:r>
          </a:p>
          <a:p>
            <a:r>
              <a:rPr lang="en-US"/>
              <a:t>Data processed and analyzed using Python</a:t>
            </a:r>
            <a:endParaRPr lang="en-CA"/>
          </a:p>
          <a:p>
            <a:endParaRPr lang="en-CA"/>
          </a:p>
        </p:txBody>
      </p:sp>
    </p:spTree>
    <p:extLst>
      <p:ext uri="{BB962C8B-B14F-4D97-AF65-F5344CB8AC3E}">
        <p14:creationId xmlns:p14="http://schemas.microsoft.com/office/powerpoint/2010/main" val="3546593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B2523-4CDC-968F-CC2B-EC13A330E888}"/>
              </a:ext>
            </a:extLst>
          </p:cNvPr>
          <p:cNvSpPr>
            <a:spLocks noGrp="1"/>
          </p:cNvSpPr>
          <p:nvPr>
            <p:ph type="title"/>
          </p:nvPr>
        </p:nvSpPr>
        <p:spPr/>
        <p:txBody>
          <a:bodyPr/>
          <a:lstStyle/>
          <a:p>
            <a:r>
              <a:rPr lang="en-CA"/>
              <a:t>2. Methodology</a:t>
            </a:r>
          </a:p>
        </p:txBody>
      </p:sp>
      <p:sp>
        <p:nvSpPr>
          <p:cNvPr id="3" name="Content Placeholder 2">
            <a:extLst>
              <a:ext uri="{FF2B5EF4-FFF2-40B4-BE49-F238E27FC236}">
                <a16:creationId xmlns:a16="http://schemas.microsoft.com/office/drawing/2014/main" id="{75BAA3A3-E6D0-8754-88F5-203DE610E0A1}"/>
              </a:ext>
            </a:extLst>
          </p:cNvPr>
          <p:cNvSpPr>
            <a:spLocks noGrp="1"/>
          </p:cNvSpPr>
          <p:nvPr>
            <p:ph idx="1"/>
          </p:nvPr>
        </p:nvSpPr>
        <p:spPr/>
        <p:txBody>
          <a:bodyPr/>
          <a:lstStyle/>
          <a:p>
            <a:pPr marL="0" indent="0">
              <a:buNone/>
            </a:pPr>
            <a:r>
              <a:rPr lang="en-CA" b="1"/>
              <a:t>2.2 </a:t>
            </a:r>
            <a:r>
              <a:rPr lang="en-US" b="1"/>
              <a:t>Tools</a:t>
            </a:r>
          </a:p>
          <a:p>
            <a:r>
              <a:rPr lang="en-CA"/>
              <a:t>Python (data processing &amp; modeling)</a:t>
            </a:r>
          </a:p>
          <a:p>
            <a:r>
              <a:rPr lang="en-CA"/>
              <a:t>SQL (data storage and queries)</a:t>
            </a:r>
          </a:p>
          <a:p>
            <a:r>
              <a:rPr lang="en-CA"/>
              <a:t>Power BI (data visualization)</a:t>
            </a:r>
          </a:p>
          <a:p>
            <a:r>
              <a:rPr lang="en-CA"/>
              <a:t>PyTest (testing and validation)</a:t>
            </a:r>
            <a:endParaRPr lang="en-US" b="1"/>
          </a:p>
          <a:p>
            <a:endParaRPr lang="en-CA" b="1"/>
          </a:p>
        </p:txBody>
      </p:sp>
    </p:spTree>
    <p:extLst>
      <p:ext uri="{BB962C8B-B14F-4D97-AF65-F5344CB8AC3E}">
        <p14:creationId xmlns:p14="http://schemas.microsoft.com/office/powerpoint/2010/main" val="1567639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AD5EA-4A4B-5E78-5481-8F2DD8894E9B}"/>
              </a:ext>
            </a:extLst>
          </p:cNvPr>
          <p:cNvSpPr>
            <a:spLocks noGrp="1"/>
          </p:cNvSpPr>
          <p:nvPr>
            <p:ph type="title"/>
          </p:nvPr>
        </p:nvSpPr>
        <p:spPr/>
        <p:txBody>
          <a:bodyPr/>
          <a:lstStyle/>
          <a:p>
            <a:r>
              <a:rPr lang="en-CA"/>
              <a:t>2. Methodology</a:t>
            </a:r>
          </a:p>
        </p:txBody>
      </p:sp>
      <p:sp>
        <p:nvSpPr>
          <p:cNvPr id="3" name="Content Placeholder 2">
            <a:extLst>
              <a:ext uri="{FF2B5EF4-FFF2-40B4-BE49-F238E27FC236}">
                <a16:creationId xmlns:a16="http://schemas.microsoft.com/office/drawing/2014/main" id="{D53F144C-B34B-1D19-6B11-84FAE4F73AB1}"/>
              </a:ext>
            </a:extLst>
          </p:cNvPr>
          <p:cNvSpPr>
            <a:spLocks noGrp="1"/>
          </p:cNvSpPr>
          <p:nvPr>
            <p:ph idx="1"/>
          </p:nvPr>
        </p:nvSpPr>
        <p:spPr/>
        <p:txBody>
          <a:bodyPr/>
          <a:lstStyle/>
          <a:p>
            <a:pPr marL="0" indent="0">
              <a:buNone/>
            </a:pPr>
            <a:r>
              <a:rPr lang="en-CA" b="1"/>
              <a:t>2.3 Techniques Applied</a:t>
            </a:r>
          </a:p>
          <a:p>
            <a:r>
              <a:rPr lang="en-US"/>
              <a:t>Feature engineering (accuracy = goals / shots)</a:t>
            </a:r>
          </a:p>
          <a:p>
            <a:r>
              <a:rPr lang="en-US"/>
              <a:t>Data visualization (charts and dashboards)</a:t>
            </a:r>
          </a:p>
          <a:p>
            <a:r>
              <a:rPr lang="en-CA"/>
              <a:t>Regression modeling for prediction</a:t>
            </a:r>
            <a:endParaRPr lang="en-CA" b="1"/>
          </a:p>
        </p:txBody>
      </p:sp>
    </p:spTree>
    <p:extLst>
      <p:ext uri="{BB962C8B-B14F-4D97-AF65-F5344CB8AC3E}">
        <p14:creationId xmlns:p14="http://schemas.microsoft.com/office/powerpoint/2010/main" val="1600286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04933-A1AD-2B4B-0DE4-EC357E2BDA49}"/>
              </a:ext>
            </a:extLst>
          </p:cNvPr>
          <p:cNvSpPr>
            <a:spLocks noGrp="1"/>
          </p:cNvSpPr>
          <p:nvPr>
            <p:ph type="title"/>
          </p:nvPr>
        </p:nvSpPr>
        <p:spPr/>
        <p:txBody>
          <a:bodyPr/>
          <a:lstStyle/>
          <a:p>
            <a:r>
              <a:rPr lang="en-CA"/>
              <a:t>2. Methodology</a:t>
            </a:r>
          </a:p>
        </p:txBody>
      </p:sp>
      <p:sp>
        <p:nvSpPr>
          <p:cNvPr id="3" name="Content Placeholder 2">
            <a:extLst>
              <a:ext uri="{FF2B5EF4-FFF2-40B4-BE49-F238E27FC236}">
                <a16:creationId xmlns:a16="http://schemas.microsoft.com/office/drawing/2014/main" id="{A9C9F6D4-5F48-4E8D-B653-714C39F1F618}"/>
              </a:ext>
            </a:extLst>
          </p:cNvPr>
          <p:cNvSpPr>
            <a:spLocks noGrp="1"/>
          </p:cNvSpPr>
          <p:nvPr>
            <p:ph idx="1"/>
          </p:nvPr>
        </p:nvSpPr>
        <p:spPr/>
        <p:txBody>
          <a:bodyPr/>
          <a:lstStyle/>
          <a:p>
            <a:pPr marL="0" indent="0">
              <a:buNone/>
            </a:pPr>
            <a:r>
              <a:rPr lang="en-CA" b="1"/>
              <a:t>2.4 Justification</a:t>
            </a:r>
          </a:p>
          <a:p>
            <a:pPr marL="0" indent="0">
              <a:buNone/>
            </a:pPr>
            <a:r>
              <a:rPr lang="en-US"/>
              <a:t>This approach was chosen because it allows controlled data generation and efficient analysis, while supporting predictive modeling</a:t>
            </a:r>
            <a:endParaRPr lang="en-CA" b="1"/>
          </a:p>
          <a:p>
            <a:endParaRPr lang="en-CA"/>
          </a:p>
        </p:txBody>
      </p:sp>
    </p:spTree>
    <p:extLst>
      <p:ext uri="{BB962C8B-B14F-4D97-AF65-F5344CB8AC3E}">
        <p14:creationId xmlns:p14="http://schemas.microsoft.com/office/powerpoint/2010/main" val="2815369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DB04F-3DA8-0619-35C9-BCF7FB364624}"/>
              </a:ext>
            </a:extLst>
          </p:cNvPr>
          <p:cNvSpPr>
            <a:spLocks noGrp="1"/>
          </p:cNvSpPr>
          <p:nvPr>
            <p:ph type="title"/>
          </p:nvPr>
        </p:nvSpPr>
        <p:spPr/>
        <p:txBody>
          <a:bodyPr/>
          <a:lstStyle/>
          <a:p>
            <a:r>
              <a:rPr lang="en-CA"/>
              <a:t>3. Key finding and analysis </a:t>
            </a:r>
          </a:p>
        </p:txBody>
      </p:sp>
      <p:sp>
        <p:nvSpPr>
          <p:cNvPr id="3" name="Content Placeholder 2">
            <a:extLst>
              <a:ext uri="{FF2B5EF4-FFF2-40B4-BE49-F238E27FC236}">
                <a16:creationId xmlns:a16="http://schemas.microsoft.com/office/drawing/2014/main" id="{26F46811-1C28-FED1-5D0C-6540CE564A41}"/>
              </a:ext>
            </a:extLst>
          </p:cNvPr>
          <p:cNvSpPr>
            <a:spLocks noGrp="1"/>
          </p:cNvSpPr>
          <p:nvPr>
            <p:ph idx="1"/>
          </p:nvPr>
        </p:nvSpPr>
        <p:spPr/>
        <p:txBody>
          <a:bodyPr/>
          <a:lstStyle/>
          <a:p>
            <a:pPr marL="0" indent="0">
              <a:buNone/>
            </a:pPr>
            <a:r>
              <a:rPr lang="en-CA" b="1"/>
              <a:t>3.1 Visualizations</a:t>
            </a:r>
          </a:p>
          <a:p>
            <a:pPr marL="0" indent="0">
              <a:buNone/>
            </a:pPr>
            <a:endParaRPr lang="en-CA" b="1"/>
          </a:p>
          <a:p>
            <a:pPr marL="0" indent="0">
              <a:buNone/>
            </a:pPr>
            <a:endParaRPr lang="en-CA" b="1"/>
          </a:p>
        </p:txBody>
      </p:sp>
      <p:pic>
        <p:nvPicPr>
          <p:cNvPr id="11" name="Picture 10">
            <a:extLst>
              <a:ext uri="{FF2B5EF4-FFF2-40B4-BE49-F238E27FC236}">
                <a16:creationId xmlns:a16="http://schemas.microsoft.com/office/drawing/2014/main" id="{1ED5E518-C7A8-A4CB-1A78-171BB023A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147" y="2465581"/>
            <a:ext cx="4958854" cy="2825947"/>
          </a:xfrm>
          <a:prstGeom prst="rect">
            <a:avLst/>
          </a:prstGeom>
        </p:spPr>
      </p:pic>
      <p:pic>
        <p:nvPicPr>
          <p:cNvPr id="13" name="Picture 12">
            <a:extLst>
              <a:ext uri="{FF2B5EF4-FFF2-40B4-BE49-F238E27FC236}">
                <a16:creationId xmlns:a16="http://schemas.microsoft.com/office/drawing/2014/main" id="{0BA93DF3-2628-8076-D35B-7A236F16B7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433" y="2465580"/>
            <a:ext cx="4644420" cy="2825947"/>
          </a:xfrm>
          <a:prstGeom prst="rect">
            <a:avLst/>
          </a:prstGeom>
        </p:spPr>
      </p:pic>
    </p:spTree>
    <p:extLst>
      <p:ext uri="{BB962C8B-B14F-4D97-AF65-F5344CB8AC3E}">
        <p14:creationId xmlns:p14="http://schemas.microsoft.com/office/powerpoint/2010/main" val="1100800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03F88-5CA9-C733-0E96-BE925EE94BE9}"/>
              </a:ext>
            </a:extLst>
          </p:cNvPr>
          <p:cNvSpPr>
            <a:spLocks noGrp="1"/>
          </p:cNvSpPr>
          <p:nvPr>
            <p:ph type="title"/>
          </p:nvPr>
        </p:nvSpPr>
        <p:spPr/>
        <p:txBody>
          <a:bodyPr/>
          <a:lstStyle/>
          <a:p>
            <a:r>
              <a:rPr lang="en-CA"/>
              <a:t>3. Key finding and analysis </a:t>
            </a:r>
          </a:p>
        </p:txBody>
      </p:sp>
      <p:sp>
        <p:nvSpPr>
          <p:cNvPr id="3" name="Content Placeholder 2">
            <a:extLst>
              <a:ext uri="{FF2B5EF4-FFF2-40B4-BE49-F238E27FC236}">
                <a16:creationId xmlns:a16="http://schemas.microsoft.com/office/drawing/2014/main" id="{D5CA628E-5965-442F-6338-C08D49D19F00}"/>
              </a:ext>
            </a:extLst>
          </p:cNvPr>
          <p:cNvSpPr>
            <a:spLocks noGrp="1"/>
          </p:cNvSpPr>
          <p:nvPr>
            <p:ph idx="1"/>
          </p:nvPr>
        </p:nvSpPr>
        <p:spPr/>
        <p:txBody>
          <a:bodyPr/>
          <a:lstStyle/>
          <a:p>
            <a:pPr marL="0" indent="0">
              <a:buNone/>
            </a:pPr>
            <a:r>
              <a:rPr lang="en-CA" b="1"/>
              <a:t>3.1 Visualizations</a:t>
            </a:r>
          </a:p>
          <a:p>
            <a:endParaRPr lang="en-CA"/>
          </a:p>
        </p:txBody>
      </p:sp>
      <p:pic>
        <p:nvPicPr>
          <p:cNvPr id="7" name="Picture 6">
            <a:extLst>
              <a:ext uri="{FF2B5EF4-FFF2-40B4-BE49-F238E27FC236}">
                <a16:creationId xmlns:a16="http://schemas.microsoft.com/office/drawing/2014/main" id="{E882C5F9-C66D-5E23-960F-31D333F7F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8821" y="2518347"/>
            <a:ext cx="8941600" cy="3109975"/>
          </a:xfrm>
          <a:prstGeom prst="rect">
            <a:avLst/>
          </a:prstGeom>
        </p:spPr>
      </p:pic>
    </p:spTree>
    <p:extLst>
      <p:ext uri="{BB962C8B-B14F-4D97-AF65-F5344CB8AC3E}">
        <p14:creationId xmlns:p14="http://schemas.microsoft.com/office/powerpoint/2010/main" val="1252054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87062-500E-72E8-D9CD-A5654E5CBA9C}"/>
              </a:ext>
            </a:extLst>
          </p:cNvPr>
          <p:cNvSpPr>
            <a:spLocks noGrp="1"/>
          </p:cNvSpPr>
          <p:nvPr>
            <p:ph type="title"/>
          </p:nvPr>
        </p:nvSpPr>
        <p:spPr/>
        <p:txBody>
          <a:bodyPr/>
          <a:lstStyle/>
          <a:p>
            <a:r>
              <a:rPr lang="en-CA"/>
              <a:t>3. Key finding and analysis </a:t>
            </a:r>
          </a:p>
        </p:txBody>
      </p:sp>
      <p:sp>
        <p:nvSpPr>
          <p:cNvPr id="3" name="Content Placeholder 2">
            <a:extLst>
              <a:ext uri="{FF2B5EF4-FFF2-40B4-BE49-F238E27FC236}">
                <a16:creationId xmlns:a16="http://schemas.microsoft.com/office/drawing/2014/main" id="{A226F623-E9EB-D0E8-DF32-AA0E726CFABD}"/>
              </a:ext>
            </a:extLst>
          </p:cNvPr>
          <p:cNvSpPr>
            <a:spLocks noGrp="1"/>
          </p:cNvSpPr>
          <p:nvPr>
            <p:ph idx="1"/>
          </p:nvPr>
        </p:nvSpPr>
        <p:spPr/>
        <p:txBody>
          <a:bodyPr/>
          <a:lstStyle/>
          <a:p>
            <a:pPr marL="0" indent="0">
              <a:buNone/>
            </a:pPr>
            <a:r>
              <a:rPr lang="en-CA" b="1"/>
              <a:t>3.2 interpretation</a:t>
            </a:r>
          </a:p>
          <a:p>
            <a:pPr marL="0" indent="0">
              <a:buNone/>
            </a:pPr>
            <a:r>
              <a:rPr lang="en-US"/>
              <a:t>Overall, the visualizations show that difficulty level has a significant impact on performance, with both goals and accuracy decreasing as difficulty increases. In contrast, power shot count does not show a strong or consistent relationship with goals, indicating that difficulty is the dominant factor influencing performance.</a:t>
            </a:r>
            <a:endParaRPr lang="en-CA" b="1"/>
          </a:p>
        </p:txBody>
      </p:sp>
    </p:spTree>
    <p:extLst>
      <p:ext uri="{BB962C8B-B14F-4D97-AF65-F5344CB8AC3E}">
        <p14:creationId xmlns:p14="http://schemas.microsoft.com/office/powerpoint/2010/main" val="1814709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89D10-DA50-0959-4731-59BCE9EFC70A}"/>
              </a:ext>
            </a:extLst>
          </p:cNvPr>
          <p:cNvSpPr>
            <a:spLocks noGrp="1"/>
          </p:cNvSpPr>
          <p:nvPr>
            <p:ph type="title"/>
          </p:nvPr>
        </p:nvSpPr>
        <p:spPr/>
        <p:txBody>
          <a:bodyPr/>
          <a:lstStyle/>
          <a:p>
            <a:r>
              <a:rPr lang="en-CA"/>
              <a:t>4. Predictive Modelling</a:t>
            </a:r>
          </a:p>
        </p:txBody>
      </p:sp>
      <p:sp>
        <p:nvSpPr>
          <p:cNvPr id="3" name="Content Placeholder 2">
            <a:extLst>
              <a:ext uri="{FF2B5EF4-FFF2-40B4-BE49-F238E27FC236}">
                <a16:creationId xmlns:a16="http://schemas.microsoft.com/office/drawing/2014/main" id="{013239B2-6D47-B371-03FD-2878373A0F50}"/>
              </a:ext>
            </a:extLst>
          </p:cNvPr>
          <p:cNvSpPr>
            <a:spLocks noGrp="1"/>
          </p:cNvSpPr>
          <p:nvPr>
            <p:ph idx="1"/>
          </p:nvPr>
        </p:nvSpPr>
        <p:spPr/>
        <p:txBody>
          <a:bodyPr/>
          <a:lstStyle/>
          <a:p>
            <a:pPr marL="0" indent="0">
              <a:buNone/>
            </a:pPr>
            <a:r>
              <a:rPr lang="en-CA" b="1"/>
              <a:t>4.1 Appraoch</a:t>
            </a:r>
          </a:p>
          <a:p>
            <a:r>
              <a:rPr lang="en-US"/>
              <a:t>Inputs: power shot count and difficulty level (encoded)</a:t>
            </a:r>
          </a:p>
          <a:p>
            <a:r>
              <a:rPr lang="en-US"/>
              <a:t>Data split into 80% training and 20% testing sets</a:t>
            </a:r>
          </a:p>
          <a:p>
            <a:r>
              <a:rPr lang="en-US"/>
              <a:t>Linear regression model used to predict goals</a:t>
            </a:r>
          </a:p>
          <a:p>
            <a:r>
              <a:rPr lang="en-US"/>
              <a:t>Model evaluated using Mean Squared Error (MSE) and R-squared (R²)</a:t>
            </a:r>
            <a:endParaRPr lang="en-CA"/>
          </a:p>
          <a:p>
            <a:pPr marL="0" indent="0">
              <a:buNone/>
            </a:pPr>
            <a:endParaRPr lang="en-CA"/>
          </a:p>
        </p:txBody>
      </p:sp>
    </p:spTree>
    <p:extLst>
      <p:ext uri="{BB962C8B-B14F-4D97-AF65-F5344CB8AC3E}">
        <p14:creationId xmlns:p14="http://schemas.microsoft.com/office/powerpoint/2010/main" val="309482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1751E-DB67-1E05-65DD-4466C261B390}"/>
              </a:ext>
            </a:extLst>
          </p:cNvPr>
          <p:cNvSpPr>
            <a:spLocks noGrp="1"/>
          </p:cNvSpPr>
          <p:nvPr>
            <p:ph type="title"/>
          </p:nvPr>
        </p:nvSpPr>
        <p:spPr/>
        <p:txBody>
          <a:bodyPr/>
          <a:lstStyle/>
          <a:p>
            <a:r>
              <a:rPr lang="en-CA"/>
              <a:t>4. Predictive Modelling</a:t>
            </a:r>
          </a:p>
        </p:txBody>
      </p:sp>
      <p:sp>
        <p:nvSpPr>
          <p:cNvPr id="3" name="Content Placeholder 2">
            <a:extLst>
              <a:ext uri="{FF2B5EF4-FFF2-40B4-BE49-F238E27FC236}">
                <a16:creationId xmlns:a16="http://schemas.microsoft.com/office/drawing/2014/main" id="{DC3D479A-DE56-C2DA-CD31-DAFAD875534D}"/>
              </a:ext>
            </a:extLst>
          </p:cNvPr>
          <p:cNvSpPr>
            <a:spLocks noGrp="1"/>
          </p:cNvSpPr>
          <p:nvPr>
            <p:ph idx="1"/>
          </p:nvPr>
        </p:nvSpPr>
        <p:spPr/>
        <p:txBody>
          <a:bodyPr/>
          <a:lstStyle/>
          <a:p>
            <a:pPr marL="0" indent="0">
              <a:buNone/>
            </a:pPr>
            <a:r>
              <a:rPr lang="en-CA" b="1"/>
              <a:t>4.2 Interpretation</a:t>
            </a:r>
          </a:p>
          <a:p>
            <a:pPr marL="0" indent="0">
              <a:buNone/>
            </a:pPr>
            <a:r>
              <a:rPr lang="en-US"/>
              <a:t>In terms of interpretation, the model shows that difficulty level has a strong influence on goal prediction, while power shot count has a weaker impact. The model is able to capture general trends in the data, but its performance is limited due to the simplicity of the features and randomness in gameplay.</a:t>
            </a:r>
            <a:endParaRPr lang="en-CA"/>
          </a:p>
        </p:txBody>
      </p:sp>
    </p:spTree>
    <p:extLst>
      <p:ext uri="{BB962C8B-B14F-4D97-AF65-F5344CB8AC3E}">
        <p14:creationId xmlns:p14="http://schemas.microsoft.com/office/powerpoint/2010/main" val="3816341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479E-EB10-3837-1F66-37CD8DFB8100}"/>
              </a:ext>
            </a:extLst>
          </p:cNvPr>
          <p:cNvSpPr>
            <a:spLocks noGrp="1"/>
          </p:cNvSpPr>
          <p:nvPr>
            <p:ph type="title"/>
          </p:nvPr>
        </p:nvSpPr>
        <p:spPr/>
        <p:txBody>
          <a:bodyPr/>
          <a:lstStyle/>
          <a:p>
            <a:r>
              <a:rPr lang="en-CA"/>
              <a:t>5. Challenges &amp; Solutions</a:t>
            </a:r>
          </a:p>
        </p:txBody>
      </p:sp>
      <p:sp>
        <p:nvSpPr>
          <p:cNvPr id="3" name="Content Placeholder 2">
            <a:extLst>
              <a:ext uri="{FF2B5EF4-FFF2-40B4-BE49-F238E27FC236}">
                <a16:creationId xmlns:a16="http://schemas.microsoft.com/office/drawing/2014/main" id="{BD0BF495-D259-8F40-1210-E77E66252405}"/>
              </a:ext>
            </a:extLst>
          </p:cNvPr>
          <p:cNvSpPr>
            <a:spLocks noGrp="1"/>
          </p:cNvSpPr>
          <p:nvPr>
            <p:ph idx="1"/>
          </p:nvPr>
        </p:nvSpPr>
        <p:spPr/>
        <p:txBody>
          <a:bodyPr/>
          <a:lstStyle/>
          <a:p>
            <a:pPr marL="0" indent="0">
              <a:buNone/>
            </a:pPr>
            <a:r>
              <a:rPr lang="en-CA" b="1"/>
              <a:t>5.1 Challenges </a:t>
            </a:r>
          </a:p>
          <a:p>
            <a:r>
              <a:rPr lang="en-CA"/>
              <a:t>Limited dataset size</a:t>
            </a:r>
          </a:p>
          <a:p>
            <a:r>
              <a:rPr lang="en-CA"/>
              <a:t>Limited feature variety</a:t>
            </a:r>
          </a:p>
          <a:p>
            <a:r>
              <a:rPr lang="en-CA"/>
              <a:t>Randomness in gameplay data</a:t>
            </a:r>
          </a:p>
          <a:p>
            <a:r>
              <a:rPr lang="en-US"/>
              <a:t>Weak relationship between some variables (e.g., power shots and goals)</a:t>
            </a:r>
            <a:endParaRPr lang="en-CA" b="1"/>
          </a:p>
          <a:p>
            <a:pPr marL="0" indent="0">
              <a:buNone/>
            </a:pPr>
            <a:endParaRPr lang="en-CA"/>
          </a:p>
        </p:txBody>
      </p:sp>
    </p:spTree>
    <p:extLst>
      <p:ext uri="{BB962C8B-B14F-4D97-AF65-F5344CB8AC3E}">
        <p14:creationId xmlns:p14="http://schemas.microsoft.com/office/powerpoint/2010/main" val="1404703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D039F-4364-C99E-1B34-32CF8917B287}"/>
              </a:ext>
            </a:extLst>
          </p:cNvPr>
          <p:cNvSpPr>
            <a:spLocks noGrp="1"/>
          </p:cNvSpPr>
          <p:nvPr>
            <p:ph type="title"/>
          </p:nvPr>
        </p:nvSpPr>
        <p:spPr/>
        <p:txBody>
          <a:bodyPr/>
          <a:lstStyle/>
          <a:p>
            <a:r>
              <a:rPr lang="en-CA"/>
              <a:t>5. Challenges &amp; Solutions</a:t>
            </a:r>
          </a:p>
        </p:txBody>
      </p:sp>
      <p:sp>
        <p:nvSpPr>
          <p:cNvPr id="3" name="Content Placeholder 2">
            <a:extLst>
              <a:ext uri="{FF2B5EF4-FFF2-40B4-BE49-F238E27FC236}">
                <a16:creationId xmlns:a16="http://schemas.microsoft.com/office/drawing/2014/main" id="{FC1A0524-4481-9593-D3F5-2995C85CAF4B}"/>
              </a:ext>
            </a:extLst>
          </p:cNvPr>
          <p:cNvSpPr>
            <a:spLocks noGrp="1"/>
          </p:cNvSpPr>
          <p:nvPr>
            <p:ph idx="1"/>
          </p:nvPr>
        </p:nvSpPr>
        <p:spPr/>
        <p:txBody>
          <a:bodyPr/>
          <a:lstStyle/>
          <a:p>
            <a:pPr marL="0" indent="0">
              <a:buNone/>
            </a:pPr>
            <a:r>
              <a:rPr lang="en-CA" b="1"/>
              <a:t>5.2 Solutions</a:t>
            </a:r>
          </a:p>
          <a:p>
            <a:r>
              <a:rPr lang="en-US"/>
              <a:t>Generated additional match data through simulation</a:t>
            </a:r>
          </a:p>
          <a:p>
            <a:r>
              <a:rPr lang="en-US"/>
              <a:t>Applied feature engineering (e.g., accuracy = goals / shots)</a:t>
            </a:r>
          </a:p>
          <a:p>
            <a:r>
              <a:rPr lang="en-US"/>
              <a:t>Used appropriate modeling techniques for simple data (linear regression)</a:t>
            </a:r>
            <a:endParaRPr lang="en-CA"/>
          </a:p>
          <a:p>
            <a:pPr marL="0" indent="0">
              <a:buNone/>
            </a:pPr>
            <a:endParaRPr lang="en-CA"/>
          </a:p>
        </p:txBody>
      </p:sp>
    </p:spTree>
    <p:extLst>
      <p:ext uri="{BB962C8B-B14F-4D97-AF65-F5344CB8AC3E}">
        <p14:creationId xmlns:p14="http://schemas.microsoft.com/office/powerpoint/2010/main" val="2250721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2845-5607-0B6A-4B14-DF6C08ABC84A}"/>
              </a:ext>
            </a:extLst>
          </p:cNvPr>
          <p:cNvSpPr>
            <a:spLocks noGrp="1"/>
          </p:cNvSpPr>
          <p:nvPr>
            <p:ph type="title"/>
          </p:nvPr>
        </p:nvSpPr>
        <p:spPr/>
        <p:txBody>
          <a:bodyPr/>
          <a:lstStyle/>
          <a:p>
            <a:r>
              <a:rPr lang="en-CA"/>
              <a:t>6. Conclusion</a:t>
            </a:r>
          </a:p>
        </p:txBody>
      </p:sp>
      <p:sp>
        <p:nvSpPr>
          <p:cNvPr id="3" name="Content Placeholder 2">
            <a:extLst>
              <a:ext uri="{FF2B5EF4-FFF2-40B4-BE49-F238E27FC236}">
                <a16:creationId xmlns:a16="http://schemas.microsoft.com/office/drawing/2014/main" id="{8A050DB0-7A18-9598-D14B-DB8B0A79F77D}"/>
              </a:ext>
            </a:extLst>
          </p:cNvPr>
          <p:cNvSpPr>
            <a:spLocks noGrp="1"/>
          </p:cNvSpPr>
          <p:nvPr>
            <p:ph idx="1"/>
          </p:nvPr>
        </p:nvSpPr>
        <p:spPr/>
        <p:txBody>
          <a:bodyPr/>
          <a:lstStyle/>
          <a:p>
            <a:pPr marL="0" indent="0">
              <a:buNone/>
            </a:pPr>
            <a:r>
              <a:rPr lang="en-US" b="1"/>
              <a:t>Conclusion</a:t>
            </a:r>
          </a:p>
          <a:p>
            <a:r>
              <a:rPr lang="en-US"/>
              <a:t>Complete pipeline: data generation → analysis → prediction</a:t>
            </a:r>
          </a:p>
          <a:p>
            <a:r>
              <a:rPr lang="en-US"/>
              <a:t>Difficulty level has a significant impact on performance</a:t>
            </a:r>
          </a:p>
          <a:p>
            <a:r>
              <a:rPr lang="en-US"/>
              <a:t>Predictive model provides useful insights with some limitations</a:t>
            </a:r>
          </a:p>
          <a:p>
            <a:r>
              <a:rPr lang="en-US"/>
              <a:t>Future work: add more features and improve model accuracy</a:t>
            </a:r>
          </a:p>
          <a:p>
            <a:endParaRPr lang="en-CA"/>
          </a:p>
        </p:txBody>
      </p:sp>
    </p:spTree>
    <p:extLst>
      <p:ext uri="{BB962C8B-B14F-4D97-AF65-F5344CB8AC3E}">
        <p14:creationId xmlns:p14="http://schemas.microsoft.com/office/powerpoint/2010/main" val="234952215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613</TotalTime>
  <Words>583</Words>
  <Application>Microsoft Office PowerPoint</Application>
  <PresentationFormat>Widescreen</PresentationFormat>
  <Paragraphs>64</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Gill Sans MT</vt:lpstr>
      <vt:lpstr>Gallery</vt:lpstr>
      <vt:lpstr>Performance Analytics and Predictive Modeling in a Soccer Simulation Environment </vt:lpstr>
      <vt:lpstr>1. Introduction</vt:lpstr>
      <vt:lpstr>1. Introduction</vt:lpstr>
      <vt:lpstr>1. Introduction</vt:lpstr>
      <vt:lpstr>2. Methodology</vt:lpstr>
      <vt:lpstr>2. Methodology</vt:lpstr>
      <vt:lpstr>2. Methodology</vt:lpstr>
      <vt:lpstr>2. Methodology</vt:lpstr>
      <vt:lpstr>3. Key finding and analysis </vt:lpstr>
      <vt:lpstr>3. Key finding and analysis </vt:lpstr>
      <vt:lpstr>3. Key finding and analysis </vt:lpstr>
      <vt:lpstr>4. Predictive Modelling</vt:lpstr>
      <vt:lpstr>4. Predictive Modelling</vt:lpstr>
      <vt:lpstr>5. Challenges &amp; Solutions</vt:lpstr>
      <vt:lpstr>5. Challenges &amp; Solutions</vt:lpstr>
      <vt:lpstr>6.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Mohamad Alsabbagh</dc:creator>
  <cp:lastModifiedBy>Mohamad Alsabbagh</cp:lastModifiedBy>
  <cp:revision>6</cp:revision>
  <dcterms:created xsi:type="dcterms:W3CDTF">2026-03-21T16:07:19Z</dcterms:created>
  <dcterms:modified xsi:type="dcterms:W3CDTF">2026-03-22T16:04:27Z</dcterms:modified>
</cp:coreProperties>
</file>